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40080"/>
            <a:ext cx="7315200" cy="5440680"/>
          </a:xfrm>
          <a:prstGeom prst="roundRect">
            <a:avLst/>
          </a:prstGeom>
          <a:solidFill>
            <a:srgbClr val="141B2B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6583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F5F7FA"/>
                </a:solidFill>
              </a:defRPr>
            </a:pPr>
            <a:r>
              <a:t>MNIST Digit</a:t>
            </a:r>
            <a:br/>
            <a:r>
              <a:t>Classification</a:t>
            </a:r>
          </a:p>
          <a:p>
            <a:pPr>
              <a:defRPr sz="2400">
                <a:solidFill>
                  <a:srgbClr val="46DCFF"/>
                </a:solidFill>
              </a:defRPr>
            </a:pPr>
            <a:r>
              <a:t>Using a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3063240"/>
            <a:ext cx="6126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AB5C7"/>
                </a:solidFill>
              </a:defRPr>
            </a:pPr>
            <a:r>
              <a:t>Naviotech Artificial Intelligence Internship</a:t>
            </a:r>
          </a:p>
          <a:p>
            <a:pPr>
              <a:spcAft>
                <a:spcPts val="800"/>
              </a:spcAft>
              <a:defRPr sz="1300">
                <a:solidFill>
                  <a:srgbClr val="AAB5C7"/>
                </a:solidFill>
              </a:defRPr>
            </a:pPr>
            <a:r>
              <a:t>Project 1 • Ankit Dagar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143000"/>
            <a:ext cx="2971800" cy="2971800"/>
          </a:xfrm>
          <a:prstGeom prst="roundRect">
            <a:avLst/>
          </a:prstGeom>
          <a:solidFill>
            <a:srgbClr val="0F1420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-di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157062"/>
            <a:ext cx="2971800" cy="29436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66760" y="4315968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Sample prediction</a:t>
            </a:r>
          </a:p>
          <a:p>
            <a:pPr algn="ctr">
              <a:defRPr sz="2500" b="1">
                <a:solidFill>
                  <a:srgbClr val="50DC96"/>
                </a:solidFill>
              </a:defRPr>
            </a:pPr>
            <a:r>
              <a:t>3  → 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AB5C7"/>
                </a:solidFill>
                <a:latin typeface="Aptos"/>
              </a:defRPr>
            </a:pPr>
            <a:r>
              <a:t>From raw pixels to a working handwritten-digit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6DCFF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514600" cy="141732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09928"/>
            <a:ext cx="21854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46DCFF"/>
                </a:solidFill>
              </a:defRPr>
            </a:pPr>
            <a:r>
              <a:t>60,000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Training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514600" cy="141732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709928"/>
            <a:ext cx="21854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A06EFF"/>
                </a:solidFill>
              </a:defRPr>
            </a:pPr>
            <a:r>
              <a:t>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5915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Test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2514600" cy="141732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709928"/>
            <a:ext cx="21854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FFB24B"/>
                </a:solidFill>
              </a:defRPr>
            </a:pPr>
            <a:r>
              <a:t>28 ×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5915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Image size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508760"/>
            <a:ext cx="2514600" cy="141732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709928"/>
            <a:ext cx="21854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50DC96"/>
                </a:solidFill>
              </a:defRPr>
            </a:pPr>
            <a: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35915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Digit classes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37560"/>
            <a:ext cx="5303520" cy="242316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37560"/>
            <a:ext cx="50292" cy="2423160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0215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What the project does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59352"/>
            <a:ext cx="48920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Loads the MNIST handwritten-digit dataset.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Normalizes pixel values and prepares the images.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Builds and trains a feed-forward neural network.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Evaluates the model and predicts a separate handwritten image.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337560"/>
            <a:ext cx="5212080" cy="242316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337560"/>
            <a:ext cx="50292" cy="2423160"/>
          </a:xfrm>
          <a:prstGeom prst="rect">
            <a:avLst/>
          </a:prstGeom>
          <a:solidFill>
            <a:srgbClr val="A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502152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End-to-end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59352"/>
            <a:ext cx="480060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Dataset → preprocessing → neural network → training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→ evaluation → confusion matrix → single-image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Objective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AB5C7"/>
                </a:solidFill>
                <a:latin typeface="Aptos"/>
              </a:defRPr>
            </a:pPr>
            <a:r>
              <a:t>A compact supervised-learning workflow for image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6DCFF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438912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4389120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489204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Recognize handwritten digits from 0 to 9.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Train a neural network on labeled MNIST images.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Measure performance on unseen test data.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Validate the pipeline using an external handwritten digit.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0" y="2148839"/>
            <a:ext cx="1005840" cy="1005840"/>
          </a:xfrm>
          <a:prstGeom prst="ellipse">
            <a:avLst/>
          </a:prstGeom>
          <a:solidFill>
            <a:srgbClr val="1A2337"/>
          </a:solidFill>
          <a:ln w="25400">
            <a:solidFill>
              <a:srgbClr val="4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33872" y="2542032"/>
            <a:ext cx="1225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A"/>
                </a:solidFill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33756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AAB5C7"/>
                </a:solidFill>
              </a:defRPr>
            </a:pPr>
            <a:r>
              <a:t>28×28</a:t>
            </a:r>
            <a:br/>
            <a:r>
              <a:t>pixels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651760"/>
            <a:ext cx="182880" cy="0"/>
          </a:xfrm>
          <a:prstGeom prst="line">
            <a:avLst/>
          </a:prstGeom>
          <a:ln w="19050">
            <a:solidFill>
              <a:srgbClr val="46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132320" y="2148839"/>
            <a:ext cx="1005840" cy="1005840"/>
          </a:xfrm>
          <a:prstGeom prst="ellipse">
            <a:avLst/>
          </a:prstGeom>
          <a:solidFill>
            <a:srgbClr val="1A2337"/>
          </a:solidFill>
          <a:ln w="25400">
            <a:solidFill>
              <a:srgbClr val="4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2542032"/>
            <a:ext cx="1225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A"/>
                </a:solidFill>
              </a:defRPr>
            </a:pPr>
            <a:r>
              <a:t>Prep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333756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AAB5C7"/>
                </a:solidFill>
              </a:defRPr>
            </a:pPr>
            <a:r>
              <a:t>Scale</a:t>
            </a:r>
            <a:br/>
            <a:r>
              <a:t>0–1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38160" y="2651760"/>
            <a:ext cx="182880" cy="0"/>
          </a:xfrm>
          <a:prstGeom prst="line">
            <a:avLst/>
          </a:prstGeom>
          <a:ln w="19050">
            <a:solidFill>
              <a:srgbClr val="46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21040" y="2148839"/>
            <a:ext cx="1005840" cy="1005840"/>
          </a:xfrm>
          <a:prstGeom prst="ellipse">
            <a:avLst/>
          </a:prstGeom>
          <a:solidFill>
            <a:srgbClr val="1A2337"/>
          </a:solidFill>
          <a:ln w="25400"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542032"/>
            <a:ext cx="1225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A"/>
                </a:solidFill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33756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AAB5C7"/>
                </a:solidFill>
              </a:defRPr>
            </a:pPr>
            <a:r>
              <a:t>2× Dense</a:t>
            </a:r>
            <a:br/>
            <a:r>
              <a:t>50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0" y="2651760"/>
            <a:ext cx="182879" cy="0"/>
          </a:xfrm>
          <a:prstGeom prst="line">
            <a:avLst/>
          </a:prstGeom>
          <a:ln w="19050">
            <a:solidFill>
              <a:srgbClr val="46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509759" y="2148839"/>
            <a:ext cx="1005840" cy="1005840"/>
          </a:xfrm>
          <a:prstGeom prst="ellipse">
            <a:avLst/>
          </a:prstGeom>
          <a:solidFill>
            <a:srgbClr val="1A2337"/>
          </a:solidFill>
          <a:ln w="25400"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2542032"/>
            <a:ext cx="1225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A"/>
                </a:solidFill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337560"/>
            <a:ext cx="1280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AAB5C7"/>
                </a:solidFill>
              </a:defRPr>
            </a:pPr>
            <a:r>
              <a:t>10</a:t>
            </a:r>
            <a:br/>
            <a:r>
              <a:t>classes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069080"/>
            <a:ext cx="5257800" cy="150876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069080"/>
            <a:ext cx="50292" cy="1508760"/>
          </a:xfrm>
          <a:prstGeom prst="rect">
            <a:avLst/>
          </a:prstGeom>
          <a:solidFill>
            <a:srgbClr val="5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690872"/>
            <a:ext cx="4846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The notebook also performs a single-image prediction after training.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MNIST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AB5C7"/>
                </a:solidFill>
                <a:latin typeface="Aptos"/>
              </a:defRPr>
            </a:pPr>
            <a:r>
              <a:t>The visual foundation of the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6DCFF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977639" cy="4160520"/>
          </a:xfrm>
          <a:prstGeom prst="roundRect">
            <a:avLst/>
          </a:prstGeom>
          <a:solidFill>
            <a:srgbClr val="0F1420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ell_11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477382"/>
            <a:ext cx="3977640" cy="39489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559552"/>
            <a:ext cx="3703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Actual notebook sample • true label: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371600"/>
            <a:ext cx="2971800" cy="1874519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83480" y="1371600"/>
            <a:ext cx="50292" cy="1874519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536192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Dataset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93392"/>
            <a:ext cx="256032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60,000 training images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10,000 test images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28 × 28 grayscale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71600"/>
            <a:ext cx="3246120" cy="1874519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371600"/>
            <a:ext cx="50292" cy="1874519"/>
          </a:xfrm>
          <a:prstGeom prst="rect">
            <a:avLst/>
          </a:prstGeom>
          <a:solidFill>
            <a:srgbClr val="A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36192"/>
            <a:ext cx="28346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Target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93392"/>
            <a:ext cx="2834639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0  1  2  3  4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5  6  7  8  9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3520440"/>
            <a:ext cx="6446520" cy="20116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80" y="3520440"/>
            <a:ext cx="50292" cy="2011680"/>
          </a:xfrm>
          <a:prstGeom prst="rect">
            <a:avLst/>
          </a:prstGeom>
          <a:solidFill>
            <a:srgbClr val="5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685032"/>
            <a:ext cx="6035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Why MNIST?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142232"/>
            <a:ext cx="60350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It is a standard benchmark for handwritten-digit classification.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The fixed 28 × 28 format makes it ideal for a compact neural-network demonstration.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Each image is paired with a digit label, enabling supervised learning.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AB5C7"/>
                </a:solidFill>
                <a:latin typeface="Aptos"/>
              </a:defRPr>
            </a:pPr>
            <a:r>
              <a:t>Preparing image pixels for stable neural-network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6DCFF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743200" cy="150876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64208"/>
            <a:ext cx="24140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FFB24B"/>
                </a:solidFill>
              </a:defRPr>
            </a:pPr>
            <a:r>
              <a:t>0–255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Original pixel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463040"/>
            <a:ext cx="2743200" cy="150876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7911" y="1664208"/>
            <a:ext cx="24140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46DCFF"/>
                </a:solidFill>
              </a:defRPr>
            </a:pPr>
            <a:r>
              <a:t>0–1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1343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Normalized range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63040"/>
            <a:ext cx="2103120" cy="150876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1664208"/>
            <a:ext cx="177393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A06EFF"/>
                </a:solidFill>
              </a:defRPr>
            </a:pPr>
            <a:r>
              <a:t>28×28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313432"/>
            <a:ext cx="18287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Image shape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463040"/>
            <a:ext cx="2331720" cy="150876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664208"/>
            <a:ext cx="200253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50DC96"/>
                </a:solidFill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13432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Grayscale channel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10607040" cy="214884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50292" cy="2148840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639312"/>
            <a:ext cx="10195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Preprocessing sequence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96511"/>
            <a:ext cx="1019556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1. Load image arrays → 2. Convert pixel values to floating-point scale → 3. Divide by 255 → 4. Feed normalized arrays into the model.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For the external handwritten image: OpenCV loads it, converts it to grayscale, resizes it to 28 × 28, normalizes it, and reshapes it for prediction.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Neural 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AB5C7"/>
                </a:solidFill>
                <a:latin typeface="Aptos"/>
              </a:defRPr>
            </a:pPr>
            <a:r>
              <a:t>The exact architecture implemented in the cleaned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6DCFF"/>
                </a:solidFill>
              </a:defRPr>
            </a:pPr>
            <a: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5925312" y="2176272"/>
            <a:ext cx="950976" cy="950976"/>
          </a:xfrm>
          <a:prstGeom prst="ellipse">
            <a:avLst/>
          </a:prstGeom>
          <a:solidFill>
            <a:srgbClr val="1A2337"/>
          </a:solidFill>
          <a:ln w="25400">
            <a:solidFill>
              <a:srgbClr val="4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15584" y="2542032"/>
            <a:ext cx="117043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A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3246120"/>
            <a:ext cx="1188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AAB5C7"/>
                </a:solidFill>
              </a:defRPr>
            </a:pPr>
            <a:r>
              <a:t>28×28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76288" y="2651760"/>
            <a:ext cx="192024" cy="0"/>
          </a:xfrm>
          <a:prstGeom prst="line">
            <a:avLst/>
          </a:prstGeom>
          <a:ln w="19050">
            <a:solidFill>
              <a:srgbClr val="AA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068312" y="2176272"/>
            <a:ext cx="950976" cy="950976"/>
          </a:xfrm>
          <a:prstGeom prst="ellipse">
            <a:avLst/>
          </a:prstGeom>
          <a:solidFill>
            <a:srgbClr val="1A2337"/>
          </a:solidFill>
          <a:ln w="25400"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8584" y="2542032"/>
            <a:ext cx="117043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A"/>
                </a:solidFill>
              </a:defRPr>
            </a:pPr>
            <a:r>
              <a:t>Flatten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246120"/>
            <a:ext cx="1188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AAB5C7"/>
                </a:solidFill>
              </a:defRPr>
            </a:pPr>
            <a:r>
              <a:t>784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19288" y="2651760"/>
            <a:ext cx="192024" cy="0"/>
          </a:xfrm>
          <a:prstGeom prst="line">
            <a:avLst/>
          </a:prstGeom>
          <a:ln w="19050">
            <a:solidFill>
              <a:srgbClr val="AA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211312" y="2176272"/>
            <a:ext cx="950976" cy="950976"/>
          </a:xfrm>
          <a:prstGeom prst="ellipse">
            <a:avLst/>
          </a:prstGeom>
          <a:solidFill>
            <a:srgbClr val="1A2337"/>
          </a:solidFill>
          <a:ln w="25400">
            <a:solidFill>
              <a:srgbClr val="46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4" y="2542032"/>
            <a:ext cx="117043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A"/>
                </a:solidFill>
              </a:defRPr>
            </a:pPr>
            <a:r>
              <a:t>Dense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246120"/>
            <a:ext cx="1188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AAB5C7"/>
                </a:solidFill>
              </a:defRPr>
            </a:pPr>
            <a:r>
              <a:t>50 • ReLU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62288" y="2651760"/>
            <a:ext cx="192024" cy="0"/>
          </a:xfrm>
          <a:prstGeom prst="line">
            <a:avLst/>
          </a:prstGeom>
          <a:ln w="19050">
            <a:solidFill>
              <a:srgbClr val="AA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354312" y="2176272"/>
            <a:ext cx="950976" cy="950976"/>
          </a:xfrm>
          <a:prstGeom prst="ellipse">
            <a:avLst/>
          </a:prstGeom>
          <a:solidFill>
            <a:srgbClr val="1A2337"/>
          </a:solidFill>
          <a:ln w="25400">
            <a:solidFill>
              <a:srgbClr val="A0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2542032"/>
            <a:ext cx="117043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A"/>
                </a:solidFill>
              </a:defRPr>
            </a:pPr>
            <a:r>
              <a:t>Dense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46120"/>
            <a:ext cx="1188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AAB5C7"/>
                </a:solidFill>
              </a:defRPr>
            </a:pPr>
            <a:r>
              <a:t>50 • ReLU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05288" y="2651760"/>
            <a:ext cx="192024" cy="0"/>
          </a:xfrm>
          <a:prstGeom prst="line">
            <a:avLst/>
          </a:prstGeom>
          <a:ln w="19050">
            <a:solidFill>
              <a:srgbClr val="AAB5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497312" y="2176272"/>
            <a:ext cx="950976" cy="950976"/>
          </a:xfrm>
          <a:prstGeom prst="ellipse">
            <a:avLst/>
          </a:prstGeom>
          <a:solidFill>
            <a:srgbClr val="1A2337"/>
          </a:solidFill>
          <a:ln w="25400">
            <a:solidFill>
              <a:srgbClr val="50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87584" y="2542032"/>
            <a:ext cx="117043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5F7FA"/>
                </a:solidFill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3246120"/>
            <a:ext cx="1188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AAB5C7"/>
                </a:solidFill>
              </a:defRPr>
            </a:pPr>
            <a:r>
              <a:t>10 • Softmax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1417320"/>
            <a:ext cx="5120640" cy="438912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1417320"/>
            <a:ext cx="50292" cy="4389120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158191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Implemented layers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039112"/>
            <a:ext cx="4709159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Input shape: (28, 28)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Flatten: 28×28 → 784 features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Dense: 50 neurons, ReLU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Dense: 50 neurons, ReLU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Output: 10 neurons, Softmax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Model Compilation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AB5C7"/>
                </a:solidFill>
                <a:latin typeface="Aptos"/>
              </a:defRPr>
            </a:pPr>
            <a:r>
              <a:t>Optimization settings and the learning trajectory recorded in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6DCFF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840480" cy="45262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4526280"/>
          </a:xfrm>
          <a:prstGeom prst="rect">
            <a:avLst/>
          </a:prstGeom>
          <a:solidFill>
            <a:srgbClr val="A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3429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Compilation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342900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Optimizer: Adam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Loss: Sparse Categorical Crossentropy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Metric: Accuracy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Epochs: 10</a:t>
            </a:r>
          </a:p>
        </p:txBody>
      </p:sp>
      <p:pic>
        <p:nvPicPr>
          <p:cNvPr id="10" name="Picture 9" descr="mnist_training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17320"/>
            <a:ext cx="6583680" cy="3886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892040" y="5440680"/>
            <a:ext cx="2880360" cy="82296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1" y="5641848"/>
            <a:ext cx="255117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50DC96"/>
                </a:solidFill>
              </a:defRPr>
            </a:pPr>
            <a:r>
              <a:t>98.99%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629107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Recorded final training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440680"/>
            <a:ext cx="2880360" cy="82296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5641848"/>
            <a:ext cx="255117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46DCFF"/>
                </a:solidFill>
              </a:defRPr>
            </a:pPr>
            <a:r>
              <a:t>0.0321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629107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Recorded final training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AB5C7"/>
                </a:solidFill>
                <a:latin typeface="Aptos"/>
              </a:defRPr>
            </a:pPr>
            <a:r>
              <a:t>Performance on the 10,000-image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6DCFF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200400" cy="182880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09928"/>
            <a:ext cx="28712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50DC96"/>
                </a:solidFill>
              </a:defRPr>
            </a:pPr>
            <a:r>
              <a:t>97.09%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Test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00400" cy="182880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09928"/>
            <a:ext cx="28712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46DCFF"/>
                </a:solidFill>
              </a:defRPr>
            </a:pPr>
            <a:r>
              <a:t>0.1182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591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Test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508760"/>
            <a:ext cx="3200400" cy="182880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709928"/>
            <a:ext cx="287121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A06EFF"/>
                </a:solidFill>
              </a:defRPr>
            </a:pPr>
            <a:r>
              <a:t>10,000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591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Test images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94760"/>
            <a:ext cx="10607040" cy="178308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794760"/>
            <a:ext cx="50292" cy="1783080"/>
          </a:xfrm>
          <a:prstGeom prst="rect">
            <a:avLst/>
          </a:prstGeom>
          <a:solidFill>
            <a:srgbClr val="5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59352"/>
            <a:ext cx="10195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16552"/>
            <a:ext cx="1019556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The test accuracy is lower than training accuracy, which is expected when evaluating on unseen data.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A 97.09% test accuracy indicates that the trained network generalizes well to the MNIST test 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Predictions &amp;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AB5C7"/>
                </a:solidFill>
                <a:latin typeface="Aptos"/>
              </a:defRPr>
            </a:pPr>
            <a:r>
              <a:t>Where the model succeeds—and where classes are occasionally confused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6DCFF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6903720" cy="4800600"/>
          </a:xfrm>
          <a:prstGeom prst="roundRect">
            <a:avLst/>
          </a:prstGeom>
          <a:solidFill>
            <a:srgbClr val="0F1420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ell_40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784321"/>
            <a:ext cx="6903720" cy="37008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1325880"/>
            <a:ext cx="3611880" cy="182880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325880"/>
            <a:ext cx="50292" cy="1828800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9047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How to read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47672"/>
            <a:ext cx="3200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Rows = true labels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Columns = predicted labels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Dark diagonal cells = correct classifications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429000"/>
            <a:ext cx="3611880" cy="214884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3429000"/>
            <a:ext cx="50292" cy="2148840"/>
          </a:xfrm>
          <a:prstGeom prst="rect">
            <a:avLst/>
          </a:prstGeom>
          <a:solidFill>
            <a:srgbClr val="A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59359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Observed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050791"/>
            <a:ext cx="32004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Most predictions lie on the diagonal.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Some visually similar digits are occasionally confused.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This supports the strong overall test accuracy.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Single-Image Prediction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AB5C7"/>
                </a:solidFill>
                <a:latin typeface="Aptos"/>
              </a:defRPr>
            </a:pPr>
            <a:r>
              <a:t>The notebook moves beyond the benchmark dataset to classify a separate handwritten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6DCFF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743200" cy="2514600"/>
          </a:xfrm>
          <a:prstGeom prst="roundRect">
            <a:avLst/>
          </a:prstGeom>
          <a:solidFill>
            <a:srgbClr val="0F1420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ell_45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87" y="1417320"/>
            <a:ext cx="2538624" cy="2514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09160" y="1417320"/>
            <a:ext cx="2743200" cy="2514600"/>
          </a:xfrm>
          <a:prstGeom prst="roundRect">
            <a:avLst/>
          </a:prstGeom>
          <a:solidFill>
            <a:srgbClr val="0F1420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ell_51_img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0" y="1417320"/>
            <a:ext cx="2514600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32520" y="1417320"/>
            <a:ext cx="2468880" cy="2514600"/>
          </a:xfrm>
          <a:prstGeom prst="roundRect">
            <a:avLst/>
          </a:prstGeom>
          <a:solidFill>
            <a:srgbClr val="0F1420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ell_45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51862"/>
            <a:ext cx="2468880" cy="24455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404164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Loaded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04164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28×28 processed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04164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Prediction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617720"/>
            <a:ext cx="10561320" cy="114300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617720"/>
            <a:ext cx="50292" cy="1143000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82312"/>
            <a:ext cx="10149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Processing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39512"/>
            <a:ext cx="101498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OpenCV load → grayscale → resize to 28×28 → normalize → reshape → model.predict() → argmax → predicted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Real-World Check: Handwritten “3”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AB5C7"/>
                </a:solidFill>
                <a:latin typeface="Aptos"/>
              </a:defRPr>
            </a:pPr>
            <a:r>
              <a:t>The external sample used in the notebook was recognized correctly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6DCFF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886200" cy="3886200"/>
          </a:xfrm>
          <a:prstGeom prst="roundRect">
            <a:avLst/>
          </a:prstGeom>
          <a:solidFill>
            <a:srgbClr val="0F1420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-dig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44268"/>
            <a:ext cx="3886200" cy="38494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0" y="1508760"/>
            <a:ext cx="2468880" cy="150876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50992" y="1709928"/>
            <a:ext cx="213969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46DC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3591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Input digit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508760"/>
            <a:ext cx="2468880" cy="150876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709928"/>
            <a:ext cx="213969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50DC96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591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Predicted digit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3611880"/>
            <a:ext cx="5257800" cy="164592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3611880"/>
            <a:ext cx="50292" cy="1645920"/>
          </a:xfrm>
          <a:prstGeom prst="rect">
            <a:avLst/>
          </a:prstGeom>
          <a:solidFill>
            <a:srgbClr val="50D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3776472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4233672"/>
            <a:ext cx="4846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The model correctly recognized the handwritten sample.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Prediction: 3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This demonstrates the complete inference pipeline on an external image.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ptos Display"/>
              </a:defRPr>
            </a:pPr>
            <a:r>
              <a:t>Conclusion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AAB5C7"/>
                </a:solidFill>
                <a:latin typeface="Aptos"/>
              </a:defRPr>
            </a:pPr>
            <a:r>
              <a:t>Project 1 delivers a complete, reproducible MNIST classification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6DCFF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141732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72768"/>
            <a:ext cx="223113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50DC96"/>
                </a:solidFill>
              </a:defRPr>
            </a:pPr>
            <a:r>
              <a:t>98.99%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Final training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371600"/>
            <a:ext cx="2560320" cy="141732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572768"/>
            <a:ext cx="223113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46DCFF"/>
                </a:solidFill>
              </a:defRPr>
            </a:pPr>
            <a:r>
              <a:t>97.09%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2199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Test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560320" cy="141732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72768"/>
            <a:ext cx="223113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A06EFF"/>
                </a:solidFill>
              </a:defRPr>
            </a:pPr>
            <a:r>
              <a:t>0.1182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2199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Test loss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371600"/>
            <a:ext cx="2240280" cy="1417320"/>
          </a:xfrm>
          <a:prstGeom prst="roundRect">
            <a:avLst/>
          </a:prstGeom>
          <a:solidFill>
            <a:srgbClr val="1A2337"/>
          </a:solidFill>
          <a:ln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572768"/>
            <a:ext cx="191109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FFB24B"/>
                </a:solidFill>
              </a:defRPr>
            </a:pPr>
            <a:r>
              <a:t>3 →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221992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B5C7"/>
                </a:solidFill>
              </a:defRPr>
            </a:pPr>
            <a:r>
              <a:t>External prediction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46120"/>
            <a:ext cx="10607040" cy="2148840"/>
          </a:xfrm>
          <a:prstGeom prst="roundRect">
            <a:avLst/>
          </a:prstGeom>
          <a:solidFill>
            <a:srgbClr val="141B2B"/>
          </a:solidFill>
          <a:ln w="12700">
            <a:solidFill>
              <a:srgbClr val="34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246120"/>
            <a:ext cx="50292" cy="2148840"/>
          </a:xfrm>
          <a:prstGeom prst="rect">
            <a:avLst/>
          </a:prstGeom>
          <a:solidFill>
            <a:srgbClr val="4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10712"/>
            <a:ext cx="10195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Key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67911"/>
            <a:ext cx="1019556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The neural network learned to classify all ten MNIST digit classes with strong test performance.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The confusion matrix shows a strong diagonal, indicating that most test examples are correctly classified.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The external handwritten “3” was correctly recognized as digit 3.</a:t>
            </a:r>
          </a:p>
          <a:p>
            <a:pPr>
              <a:spcAft>
                <a:spcPts val="700"/>
              </a:spcAft>
              <a:defRPr sz="1250">
                <a:solidFill>
                  <a:srgbClr val="AAB5C7"/>
                </a:solidFill>
              </a:defRPr>
            </a:pPr>
            <a:r>
              <a:t>The notebook contains the full workflow: data preparation, model construction, training, evaluation, prediction, and documentation.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5C7"/>
                </a:solidFill>
                <a:latin typeface="Aptos"/>
              </a:defRPr>
            </a:pPr>
            <a:r>
              <a:t>Naviotech • Artificial Intelligence Internship • Project 1 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